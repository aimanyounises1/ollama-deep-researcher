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5" r:id="rId18"/>
    <p:sldId id="276" r:id="rId19"/>
    <p:sldId id="278" r:id="rId20"/>
    <p:sldId id="279" r:id="rId21"/>
    <p:sldId id="280" r:id="rId22"/>
    <p:sldId id="281" r:id="rId23"/>
    <p:sldId id="282" r:id="rId24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D4713-6764-C723-56DF-88CF357E2F4E}" v="1" dt="2025-10-22T12:49:04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2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224" y="3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3300" y="1828800"/>
            <a:ext cx="1097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99FF"/>
                </a:solidFill>
                <a:latin typeface="Consolas"/>
              </a:defRPr>
            </a:pPr>
            <a:r>
              <a:rPr lang="en-US" dirty="0" err="1"/>
              <a:t>Ollama</a:t>
            </a:r>
            <a:r>
              <a:rPr lang="en-US" dirty="0"/>
              <a:t> Deep Research 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AFAFA"/>
                </a:solidFill>
              </a:defRPr>
            </a:pPr>
            <a:r>
              <a:rPr dirty="0"/>
              <a:t>Deep Research System - Technical Architecture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4864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C66"/>
                </a:solidFill>
              </a:defRPr>
            </a:pPr>
            <a:r>
              <a:t>LangGraph-based • Multi-Source • AI-Powered • Enterprise-Ready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89761" y="517764"/>
            <a:ext cx="9258688" cy="101566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lang="en-US" sz="2800" dirty="0">
                <a:solidFill>
                  <a:schemeClr val="tx2"/>
                </a:solidFill>
              </a:rPr>
              <a:t>Deep Research System - Technical Architecture &amp; Capabilities</a:t>
            </a:r>
            <a:endParaRPr lang="en-US" sz="2800" dirty="0">
              <a:solidFill>
                <a:schemeClr val="tx2"/>
              </a:solidFill>
              <a:ea typeface="Calibri"/>
              <a:cs typeface="Calibri"/>
            </a:endParaRPr>
          </a:p>
          <a:p>
            <a:pPr algn="ctr">
              <a:defRPr sz="3200" b="1">
                <a:solidFill>
                  <a:srgbClr val="003366"/>
                </a:solidFill>
              </a:defRPr>
            </a:pPr>
            <a:endParaRPr lang="en-US" sz="3200" dirty="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2011680"/>
          </a:xfrm>
          <a:prstGeom prst="roundRect">
            <a:avLst/>
          </a:prstGeom>
          <a:solidFill>
            <a:srgbClr val="F5F5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3291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🔍 Natural Language</a:t>
            </a:r>
          </a:p>
          <a:p>
            <a:pPr>
              <a:spcBef>
                <a:spcPts val="200"/>
              </a:spcBef>
              <a:defRPr sz="1400" b="1">
                <a:solidFill>
                  <a:srgbClr val="0099FF"/>
                </a:solidFill>
              </a:defRPr>
            </a:pPr>
            <a:r>
              <a:t>Query Understanding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Accepts plain English queries</a:t>
            </a:r>
            <a:br/>
            <a:r>
              <a:t>Extracts identifiers automatically</a:t>
            </a:r>
            <a:br/>
            <a:r>
              <a:t>Understands context and intent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828800"/>
            <a:ext cx="3657600" cy="2011680"/>
          </a:xfrm>
          <a:prstGeom prst="roundRect">
            <a:avLst/>
          </a:prstGeom>
          <a:solidFill>
            <a:srgbClr val="F5F5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0" y="2011680"/>
            <a:ext cx="3291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🔄 Parallel Processing</a:t>
            </a:r>
          </a:p>
          <a:p>
            <a:pPr>
              <a:spcBef>
                <a:spcPts val="200"/>
              </a:spcBef>
              <a:defRPr sz="1400" b="1">
                <a:solidFill>
                  <a:srgbClr val="0099FF"/>
                </a:solidFill>
              </a:defRPr>
            </a:pPr>
            <a:r>
              <a:t>Multi-Source Integration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JIRA + Confluence + Perforce</a:t>
            </a:r>
            <a:br/>
            <a:r>
              <a:t>Simultaneous querying</a:t>
            </a:r>
            <a:br/>
            <a:r>
              <a:t>5-10x performance boost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828800"/>
            <a:ext cx="3657600" cy="2011680"/>
          </a:xfrm>
          <a:prstGeom prst="roundRect">
            <a:avLst/>
          </a:prstGeom>
          <a:solidFill>
            <a:srgbClr val="F5F5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2011680"/>
            <a:ext cx="1861407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rPr dirty="0"/>
              <a:t>🧠 AI Intelligence</a:t>
            </a:r>
          </a:p>
          <a:p>
            <a:pPr>
              <a:spcBef>
                <a:spcPts val="200"/>
              </a:spcBef>
              <a:defRPr sz="1400" b="1">
                <a:solidFill>
                  <a:srgbClr val="0099FF"/>
                </a:solidFill>
              </a:defRPr>
            </a:pPr>
            <a:r>
              <a:rPr dirty="0"/>
              <a:t>Advanced Analysis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rPr lang="en-US" dirty="0"/>
              <a:t>Qwen 3 reasoning</a:t>
            </a:r>
            <a:r>
              <a:rPr dirty="0"/>
              <a:t>  models</a:t>
            </a:r>
            <a:br>
              <a:rPr dirty="0"/>
            </a:br>
            <a:r>
              <a:rPr dirty="0"/>
              <a:t>Semantic understanding</a:t>
            </a:r>
            <a:br>
              <a:rPr dirty="0"/>
            </a:br>
            <a:r>
              <a:rPr dirty="0"/>
              <a:t>Context-aware 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3657600" cy="2011680"/>
          </a:xfrm>
          <a:prstGeom prst="roundRect">
            <a:avLst/>
          </a:prstGeom>
          <a:solidFill>
            <a:srgbClr val="F5F5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3291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📊 RAG System</a:t>
            </a:r>
          </a:p>
          <a:p>
            <a:pPr>
              <a:spcBef>
                <a:spcPts val="200"/>
              </a:spcBef>
              <a:defRPr sz="1400" b="1">
                <a:solidFill>
                  <a:srgbClr val="0099FF"/>
                </a:solidFill>
              </a:defRPr>
            </a:pPr>
            <a:r>
              <a:t>Hybrid Retrieval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Semantic + keyword search</a:t>
            </a:r>
            <a:br/>
            <a:r>
              <a:t>Iterative refinement</a:t>
            </a:r>
            <a:br/>
            <a:r>
              <a:t>Vector embeddings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572000"/>
            <a:ext cx="3657600" cy="2011680"/>
          </a:xfrm>
          <a:prstGeom prst="roundRect">
            <a:avLst/>
          </a:prstGeom>
          <a:solidFill>
            <a:srgbClr val="F5F5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0" y="4754880"/>
            <a:ext cx="3291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🔗 Cross-Source</a:t>
            </a:r>
          </a:p>
          <a:p>
            <a:pPr>
              <a:spcBef>
                <a:spcPts val="200"/>
              </a:spcBef>
              <a:defRPr sz="1400" b="1">
                <a:solidFill>
                  <a:srgbClr val="0099FF"/>
                </a:solidFill>
              </a:defRPr>
            </a:pPr>
            <a:r>
              <a:t>Correlation Engine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Timeline analysis</a:t>
            </a:r>
            <a:br/>
            <a:r>
              <a:t>Pattern detection</a:t>
            </a:r>
            <a:br/>
            <a:r>
              <a:t>Relationship mapping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4572000"/>
            <a:ext cx="3657600" cy="2011680"/>
          </a:xfrm>
          <a:prstGeom prst="roundRect">
            <a:avLst/>
          </a:prstGeom>
          <a:solidFill>
            <a:srgbClr val="F5F5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4754880"/>
            <a:ext cx="3291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✅ Verification</a:t>
            </a:r>
          </a:p>
          <a:p>
            <a:pPr>
              <a:spcBef>
                <a:spcPts val="200"/>
              </a:spcBef>
              <a:defRPr sz="1400" b="1">
                <a:solidFill>
                  <a:srgbClr val="0099FF"/>
                </a:solidFill>
              </a:defRPr>
            </a:pPr>
            <a:r>
              <a:t>Quality Assurance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Multi-agent validation</a:t>
            </a:r>
            <a:br/>
            <a:r>
              <a:t>Fact checking</a:t>
            </a:r>
            <a:br/>
            <a:r>
              <a:t>Citation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LangGraph Architecture - State Machine Design</a:t>
            </a:r>
          </a:p>
        </p:txBody>
      </p:sp>
      <p:sp>
        <p:nvSpPr>
          <p:cNvPr id="3" name="Oval 2"/>
          <p:cNvSpPr/>
          <p:nvPr/>
        </p:nvSpPr>
        <p:spPr>
          <a:xfrm>
            <a:off x="1149178" y="3200400"/>
            <a:ext cx="1371600" cy="731520"/>
          </a:xfrm>
          <a:prstGeom prst="ellipse">
            <a:avLst/>
          </a:prstGeom>
          <a:solidFill>
            <a:srgbClr val="00CC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1978" y="3390694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Entry 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2286000" cy="109728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0" y="1920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Query Analysis</a:t>
            </a:r>
            <a:br/>
            <a:r>
              <a:t>&amp;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828800"/>
            <a:ext cx="2286000" cy="1097280"/>
          </a:xfrm>
          <a:prstGeom prst="roundRect">
            <a:avLst/>
          </a:prstGeom>
          <a:solidFill>
            <a:srgbClr val="009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0" y="1920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Concurrent</a:t>
            </a:r>
            <a:br/>
            <a:r>
              <a:t>Data Fetching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28800"/>
            <a:ext cx="2286000" cy="1097280"/>
          </a:xfrm>
          <a:prstGeom prst="roundRect">
            <a:avLst/>
          </a:prstGeom>
          <a:solidFill>
            <a:srgbClr val="FF9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920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Smart Search</a:t>
            </a:r>
            <a:br/>
            <a:r>
              <a:t>Discovery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0" y="1828800"/>
            <a:ext cx="2286000" cy="1097280"/>
          </a:xfrm>
          <a:prstGeom prst="roundRect">
            <a:avLst/>
          </a:prstGeom>
          <a:solidFill>
            <a:srgbClr val="00CC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0" y="1920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Follow-up</a:t>
            </a:r>
            <a:br/>
            <a:r>
              <a:t>Queries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572000"/>
            <a:ext cx="2286000" cy="109728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0" y="4663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RAG Population</a:t>
            </a:r>
            <a:br/>
            <a:r>
              <a:t>&amp; Indexing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4572000"/>
            <a:ext cx="2286000" cy="1097280"/>
          </a:xfrm>
          <a:prstGeom prst="roundRect">
            <a:avLst/>
          </a:prstGeom>
          <a:solidFill>
            <a:srgbClr val="009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0" y="4663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Initial Report</a:t>
            </a:r>
            <a:br/>
            <a:r>
              <a:t>Generation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572000"/>
            <a:ext cx="2286000" cy="1097280"/>
          </a:xfrm>
          <a:prstGeom prst="roundRect">
            <a:avLst/>
          </a:prstGeom>
          <a:solidFill>
            <a:srgbClr val="FF9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4663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Quality</a:t>
            </a:r>
            <a:br/>
            <a:r>
              <a:t>Enhancement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0" y="4572000"/>
            <a:ext cx="2286000" cy="1097280"/>
          </a:xfrm>
          <a:prstGeom prst="roundRect">
            <a:avLst/>
          </a:prstGeom>
          <a:solidFill>
            <a:srgbClr val="00CC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0" y="4663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Final Output</a:t>
            </a:r>
            <a:br/>
            <a:r>
              <a:t>Generation</a:t>
            </a:r>
          </a:p>
        </p:txBody>
      </p:sp>
      <p:sp>
        <p:nvSpPr>
          <p:cNvPr id="21" name="Oval 20"/>
          <p:cNvSpPr/>
          <p:nvPr/>
        </p:nvSpPr>
        <p:spPr>
          <a:xfrm>
            <a:off x="13122875" y="3200399"/>
            <a:ext cx="1371600" cy="731520"/>
          </a:xfrm>
          <a:prstGeom prst="ellipse">
            <a:avLst/>
          </a:prstGeom>
          <a:solidFill>
            <a:srgbClr val="CC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665675" y="3390693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4008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Circuit Breaker Pattern • Conditional Routing • State Persistence • Error Recovery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Natural Language Processing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6400800" cy="4572000"/>
          </a:xfrm>
          <a:prstGeom prst="round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3262432" cy="2621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rPr dirty="0"/>
              <a:t>Query Examples &amp; Extraction</a:t>
            </a:r>
          </a:p>
          <a:p>
            <a:pPr>
              <a:spcBef>
                <a:spcPts val="800"/>
              </a:spcBef>
              <a:defRPr sz="1200" i="1">
                <a:solidFill>
                  <a:srgbClr val="212121"/>
                </a:solidFill>
              </a:defRPr>
            </a:pPr>
            <a:r>
              <a:rPr dirty="0"/>
              <a:t>"What is care/v1/</a:t>
            </a:r>
            <a:r>
              <a:rPr dirty="0" err="1"/>
              <a:t>validateChangeOwnership</a:t>
            </a:r>
            <a:r>
              <a:rPr dirty="0"/>
              <a:t>?"</a:t>
            </a:r>
          </a:p>
          <a:p>
            <a:pPr>
              <a:defRPr sz="1100">
                <a:solidFill>
                  <a:srgbClr val="0099FF"/>
                </a:solidFill>
                <a:latin typeface="Consolas"/>
              </a:defRPr>
            </a:pPr>
            <a:r>
              <a:rPr dirty="0"/>
              <a:t>→ API: care/v1/</a:t>
            </a:r>
            <a:r>
              <a:rPr dirty="0" err="1"/>
              <a:t>validateChangeOwnership</a:t>
            </a:r>
            <a:endParaRPr dirty="0"/>
          </a:p>
          <a:p>
            <a:pPr>
              <a:spcBef>
                <a:spcPts val="800"/>
              </a:spcBef>
              <a:defRPr sz="1200" i="1">
                <a:solidFill>
                  <a:srgbClr val="212121"/>
                </a:solidFill>
              </a:defRPr>
            </a:pPr>
            <a:r>
              <a:rPr dirty="0"/>
              <a:t>"VIT-60899 authentication issue"</a:t>
            </a:r>
          </a:p>
          <a:p>
            <a:pPr>
              <a:defRPr sz="1100">
                <a:solidFill>
                  <a:srgbClr val="0099FF"/>
                </a:solidFill>
                <a:latin typeface="Consolas"/>
              </a:defRPr>
            </a:pPr>
            <a:r>
              <a:rPr dirty="0"/>
              <a:t>→ JIRA: VIT-60899, Topic: authentication</a:t>
            </a:r>
          </a:p>
          <a:p>
            <a:pPr>
              <a:spcBef>
                <a:spcPts val="800"/>
              </a:spcBef>
              <a:defRPr sz="1200" i="1">
                <a:solidFill>
                  <a:srgbClr val="212121"/>
                </a:solidFill>
              </a:defRPr>
            </a:pPr>
            <a:r>
              <a:rPr dirty="0"/>
              <a:t>"MTV2005 implementation details"</a:t>
            </a:r>
          </a:p>
          <a:p>
            <a:pPr>
              <a:defRPr sz="1100">
                <a:solidFill>
                  <a:srgbClr val="0099FF"/>
                </a:solidFill>
                <a:latin typeface="Consolas"/>
              </a:defRPr>
            </a:pPr>
            <a:r>
              <a:rPr dirty="0"/>
              <a:t>→ MTV: MTV2005, Action: implementation</a:t>
            </a:r>
          </a:p>
          <a:p>
            <a:pPr>
              <a:spcBef>
                <a:spcPts val="800"/>
              </a:spcBef>
              <a:defRPr sz="1200" i="1">
                <a:solidFill>
                  <a:srgbClr val="212121"/>
                </a:solidFill>
              </a:defRPr>
            </a:pPr>
            <a:r>
              <a:rPr dirty="0"/>
              <a:t>"Changes by </a:t>
            </a:r>
            <a:r>
              <a:rPr dirty="0" err="1"/>
              <a:t>john.doe@</a:t>
            </a:r>
            <a:r>
              <a:rPr lang="en-US" dirty="0" err="1"/>
              <a:t>Amdocs.com</a:t>
            </a:r>
            <a:endParaRPr lang="en-US" dirty="0"/>
          </a:p>
          <a:p>
            <a:pPr>
              <a:defRPr sz="1100">
                <a:solidFill>
                  <a:srgbClr val="0099FF"/>
                </a:solidFill>
                <a:latin typeface="Consolas"/>
              </a:defRPr>
            </a:pPr>
            <a:r>
              <a:rPr lang="en-US" dirty="0"/>
              <a:t>→ User: </a:t>
            </a:r>
            <a:r>
              <a:rPr lang="en-US" dirty="0" err="1"/>
              <a:t>john.doe</a:t>
            </a:r>
            <a:r>
              <a:rPr lang="en-US" dirty="0"/>
              <a:t>, Type: changes</a:t>
            </a:r>
          </a:p>
          <a:p>
            <a:pPr>
              <a:spcBef>
                <a:spcPts val="800"/>
              </a:spcBef>
              <a:defRPr sz="1200" i="1">
                <a:solidFill>
                  <a:srgbClr val="212121"/>
                </a:solidFill>
              </a:defRPr>
            </a:pPr>
            <a:r>
              <a:rPr dirty="0"/>
              <a:t>"Payment processing bugs last month"</a:t>
            </a:r>
          </a:p>
          <a:p>
            <a:pPr>
              <a:defRPr sz="1100">
                <a:solidFill>
                  <a:srgbClr val="0099FF"/>
                </a:solidFill>
                <a:latin typeface="Consolas"/>
              </a:defRPr>
            </a:pPr>
            <a:r>
              <a:rPr dirty="0"/>
              <a:t>→ Topic: payment, Type: bugs, Time: -1m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Processing Pipeline</a:t>
            </a:r>
          </a:p>
          <a:p>
            <a:pPr>
              <a:spcBef>
                <a:spcPts val="1000"/>
              </a:spcBef>
              <a:defRPr sz="1300">
                <a:solidFill>
                  <a:srgbClr val="212121"/>
                </a:solidFill>
              </a:defRPr>
            </a:pPr>
            <a:r>
              <a:t>1. Tokenization &amp; Normalization</a:t>
            </a:r>
          </a:p>
          <a:p>
            <a:pPr>
              <a:spcBef>
                <a:spcPts val="1000"/>
              </a:spcBef>
              <a:defRPr sz="1300">
                <a:solidFill>
                  <a:srgbClr val="212121"/>
                </a:solidFill>
              </a:defRPr>
            </a:pPr>
            <a:r>
              <a:t>2. Pattern Recognition (Regex)</a:t>
            </a:r>
          </a:p>
          <a:p>
            <a:pPr lvl="1">
              <a:defRPr sz="1100">
                <a:solidFill>
                  <a:srgbClr val="646464"/>
                </a:solidFill>
              </a:defRPr>
            </a:pPr>
            <a:r>
              <a:t>   • MTV/VIT patterns</a:t>
            </a:r>
            <a:br/>
            <a:r>
              <a:t>   • API endpoints</a:t>
            </a:r>
            <a:br/>
            <a:r>
              <a:t>   • Email addresses</a:t>
            </a:r>
          </a:p>
          <a:p>
            <a:pPr>
              <a:spcBef>
                <a:spcPts val="1000"/>
              </a:spcBef>
              <a:defRPr sz="1300">
                <a:solidFill>
                  <a:srgbClr val="212121"/>
                </a:solidFill>
              </a:defRPr>
            </a:pPr>
            <a:r>
              <a:t>3. Entity Extraction (NER)</a:t>
            </a:r>
          </a:p>
          <a:p>
            <a:pPr>
              <a:spcBef>
                <a:spcPts val="1000"/>
              </a:spcBef>
              <a:defRPr sz="1300">
                <a:solidFill>
                  <a:srgbClr val="212121"/>
                </a:solidFill>
              </a:defRPr>
            </a:pPr>
            <a:r>
              <a:t>4. Intent Classification</a:t>
            </a:r>
          </a:p>
          <a:p>
            <a:pPr>
              <a:spcBef>
                <a:spcPts val="1000"/>
              </a:spcBef>
              <a:defRPr sz="1300">
                <a:solidFill>
                  <a:srgbClr val="212121"/>
                </a:solidFill>
              </a:defRPr>
            </a:pPr>
            <a:r>
              <a:t>5. Context Analysis</a:t>
            </a:r>
          </a:p>
          <a:p>
            <a:pPr>
              <a:spcBef>
                <a:spcPts val="1000"/>
              </a:spcBef>
              <a:defRPr sz="1300">
                <a:solidFill>
                  <a:srgbClr val="212121"/>
                </a:solidFill>
              </a:defRPr>
            </a:pPr>
            <a:r>
              <a:t>6. Query Expansion</a:t>
            </a:r>
          </a:p>
          <a:p>
            <a:pPr>
              <a:spcBef>
                <a:spcPts val="1000"/>
              </a:spcBef>
              <a:defRPr sz="1300">
                <a:solidFill>
                  <a:srgbClr val="212121"/>
                </a:solidFill>
              </a:defRPr>
            </a:pPr>
            <a:r>
              <a:t>7. Search Strategy Planning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Multi-Source Integration - Parallel Fetching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3200400"/>
          </a:xfrm>
          <a:prstGeom prst="roundRect">
            <a:avLst/>
          </a:prstGeom>
          <a:solidFill>
            <a:srgbClr val="FAFAFA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32918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JIRA</a:t>
            </a:r>
          </a:p>
          <a:p>
            <a:pPr algn="ctr">
              <a:spcBef>
                <a:spcPts val="200"/>
              </a:spcBef>
              <a:defRPr sz="1400">
                <a:solidFill>
                  <a:srgbClr val="212121"/>
                </a:solidFill>
              </a:defRPr>
            </a:pPr>
            <a:r>
              <a:t>Issue Tracking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REST API v3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JQL queries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Attachment extraction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Custom fields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Comments &amp; history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Bulk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828800"/>
            <a:ext cx="3657600" cy="3200400"/>
          </a:xfrm>
          <a:prstGeom prst="roundRect">
            <a:avLst/>
          </a:prstGeom>
          <a:solidFill>
            <a:srgbClr val="FAFAFA"/>
          </a:solidFill>
          <a:ln w="381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0" y="2011680"/>
            <a:ext cx="32918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99FF"/>
                </a:solidFill>
              </a:defRPr>
            </a:pPr>
            <a:r>
              <a:t>Confluence</a:t>
            </a:r>
          </a:p>
          <a:p>
            <a:pPr algn="ctr">
              <a:spcBef>
                <a:spcPts val="200"/>
              </a:spcBef>
              <a:defRPr sz="1400">
                <a:solidFill>
                  <a:srgbClr val="212121"/>
                </a:solidFill>
              </a:defRPr>
            </a:pPr>
            <a:r>
              <a:t>Documentation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CQL search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Page hierarchy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Macro parsing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Table extraction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Space filtering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Version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828800"/>
            <a:ext cx="3657600" cy="3200400"/>
          </a:xfrm>
          <a:prstGeom prst="roundRect">
            <a:avLst/>
          </a:prstGeom>
          <a:solidFill>
            <a:srgbClr val="FAFAFA"/>
          </a:solidFill>
          <a:ln w="381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2011680"/>
            <a:ext cx="32918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CC66"/>
                </a:solidFill>
              </a:defRPr>
            </a:pPr>
            <a:r>
              <a:t>Perforce</a:t>
            </a:r>
          </a:p>
          <a:p>
            <a:pPr algn="ctr">
              <a:spcBef>
                <a:spcPts val="200"/>
              </a:spcBef>
              <a:defRPr sz="1400">
                <a:solidFill>
                  <a:srgbClr val="212121"/>
                </a:solidFill>
              </a:defRPr>
            </a:pPr>
            <a:r>
              <a:t>Version Control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P4 Python API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Changelist search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File grep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Diff analysis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Branch mapping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100K+ CLs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86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9900"/>
                </a:solidFill>
              </a:defRPr>
            </a:pPr>
            <a:r>
              <a:t>⚡ Parallel Execution: All sources queried simultaneously • Connection pooling • Retry logic • Circuit breaker protection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Intelligent Search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🎯 Smart Query Processing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Automatic identifier extraction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Query expansion with synonyms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Context-aware search terms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Fuzzy matching for typos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8288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🔍 Advanced Filtering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MTV/VIT primary vs reference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Date range intelligence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User and team filtering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Relevance scoring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8288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🧩 Pattern Recognition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API endpoint detection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Code pattern matching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Error signature identification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Dependency mapping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📊 Result Optimization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Duplicate removal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Merge changelist filtering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Noise reduction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Priority ranking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5720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🔄 Adaptive Learning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Search history analysis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Pattern learning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Query optimization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Result improvement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45720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🌐 Cross-Reference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Entity relationship mapping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Timeline correlation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Impact analysis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Dependency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360° Secondary Search - Intelligent Expansion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2801600" cy="2743200"/>
          </a:xfrm>
          <a:prstGeom prst="round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Initial Query</a:t>
            </a:r>
          </a:p>
          <a:p>
            <a:pPr algn="ctr">
              <a:defRPr sz="1000">
                <a:solidFill>
                  <a:srgbClr val="212121"/>
                </a:solidFill>
              </a:defRPr>
            </a:pPr>
            <a:r>
              <a:t>care/v1/validateChangeOwnership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468880"/>
            <a:ext cx="731520" cy="548640"/>
          </a:xfrm>
          <a:prstGeom prst="rightArrow">
            <a:avLst/>
          </a:prstGeom>
          <a:solidFill>
            <a:srgbClr val="009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Perforce Search</a:t>
            </a:r>
          </a:p>
          <a:p>
            <a:pPr algn="ctr">
              <a:defRPr sz="1000">
                <a:solidFill>
                  <a:srgbClr val="212121"/>
                </a:solidFill>
              </a:defRPr>
            </a:pPr>
            <a:r>
              <a:t>Found in CL 27319450</a:t>
            </a:r>
            <a:br/>
            <a:r>
              <a:t>MTV1064 in description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772400" y="2468880"/>
            <a:ext cx="731520" cy="548640"/>
          </a:xfrm>
          <a:prstGeom prst="rightArrow">
            <a:avLst/>
          </a:prstGeom>
          <a:solidFill>
            <a:srgbClr val="009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Extract MTV</a:t>
            </a:r>
          </a:p>
          <a:p>
            <a:pPr algn="ctr">
              <a:defRPr sz="1000">
                <a:solidFill>
                  <a:srgbClr val="212121"/>
                </a:solidFill>
              </a:defRPr>
            </a:pPr>
            <a:r>
              <a:t>MTV1064</a:t>
            </a:r>
            <a:br/>
            <a:r>
              <a:t>identified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0515600" y="2468880"/>
            <a:ext cx="731520" cy="548640"/>
          </a:xfrm>
          <a:prstGeom prst="rightArrow">
            <a:avLst/>
          </a:prstGeom>
          <a:solidFill>
            <a:srgbClr val="009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Secondary Search</a:t>
            </a:r>
          </a:p>
          <a:p>
            <a:pPr algn="ctr">
              <a:defRPr sz="1000">
                <a:solidFill>
                  <a:srgbClr val="212121"/>
                </a:solidFill>
              </a:defRPr>
            </a:pPr>
            <a:r>
              <a:t>Search all sources</a:t>
            </a:r>
            <a:br/>
            <a:r>
              <a:t>for MTV1064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Key Secondary Search Features</a:t>
            </a:r>
          </a:p>
          <a:p>
            <a:pPr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• Automatic identifier extraction from all sources (MTV, VIT, API names)</a:t>
            </a:r>
          </a:p>
          <a:p>
            <a:pPr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• Smart filtering to avoid irrelevant results (e.g., pages that just mention MTV in passing)</a:t>
            </a:r>
          </a:p>
          <a:p>
            <a:pPr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• Prioritized search order based on likelihood of relevant results</a:t>
            </a:r>
          </a:p>
          <a:p>
            <a:pPr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• Configurable expansion depth (standard vs 360° mode)</a:t>
            </a:r>
          </a:p>
          <a:p>
            <a:pPr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• Deduplication across secondary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Advanced RAG System - Hybrid Retrieval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22860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Content Processing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Smart chunking (1000 tokens)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Overlap strategy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Metadata preservation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Source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828800"/>
            <a:ext cx="3657600" cy="22860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9FF"/>
                </a:solidFill>
              </a:defRPr>
            </a:pPr>
            <a:r>
              <a:t>Embedding Generation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Ollama embeddings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nomic-embed-text model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Semantic vectors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Batch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828800"/>
            <a:ext cx="3657600" cy="22860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CC66"/>
                </a:solidFill>
              </a:defRPr>
            </a:pPr>
            <a:r>
              <a:t>Hybrid Search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BM25 keyword search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Semantic similarity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Score fusion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Re-ranking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3657600" cy="22860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9900"/>
                </a:solidFill>
              </a:defRPr>
            </a:pPr>
            <a:r>
              <a:t>Iterative Refinement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Gap detection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Targeted queries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Context expansion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Quality improvement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572000"/>
            <a:ext cx="3657600" cy="22860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Vector Storage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FAISS indexing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Efficient retrieval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Persistent cache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Quick 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4572000"/>
            <a:ext cx="3657600" cy="22860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9FF"/>
                </a:solidFill>
              </a:defRPr>
            </a:pPr>
            <a:r>
              <a:t>Context Window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Dynamic sizing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Priority ranking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Token optimization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Source diversity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Comprehensive Attachment 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93192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rPr dirty="0"/>
              <a:t>📄 Documents</a:t>
            </a:r>
          </a:p>
          <a:p>
            <a:pPr>
              <a:spcBef>
                <a:spcPts val="4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Types: PDF extraction, Word/Excel/PowerPoint, Plain text files, RTF documents</a:t>
            </a:r>
          </a:p>
          <a:p>
            <a:pPr>
              <a:spcBef>
                <a:spcPts val="400"/>
              </a:spcBef>
              <a:defRPr sz="1000" i="1">
                <a:solidFill>
                  <a:srgbClr val="0099FF"/>
                </a:solidFill>
              </a:defRPr>
            </a:pPr>
            <a:r>
              <a:rPr dirty="0"/>
              <a:t>Features: Text extraction • Table preservation • Metadata parsing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8288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📊 Data Files</a:t>
            </a:r>
          </a:p>
          <a:p>
            <a:pPr>
              <a:spcBef>
                <a:spcPts val="400"/>
              </a:spcBef>
              <a:defRPr sz="1000">
                <a:solidFill>
                  <a:srgbClr val="212121"/>
                </a:solidFill>
              </a:defRPr>
            </a:pPr>
            <a:r>
              <a:t>Types: CSV parsing, JSON structure, XML processing, YAML configs</a:t>
            </a:r>
          </a:p>
          <a:p>
            <a:pPr>
              <a:spcBef>
                <a:spcPts val="400"/>
              </a:spcBef>
              <a:defRPr sz="1000" i="1">
                <a:solidFill>
                  <a:srgbClr val="0099FF"/>
                </a:solidFill>
              </a:defRPr>
            </a:pPr>
            <a:r>
              <a:t>Features: Structure preservation • Data validation • Schema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8288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🖼️ Images</a:t>
            </a:r>
          </a:p>
          <a:p>
            <a:pPr>
              <a:spcBef>
                <a:spcPts val="400"/>
              </a:spcBef>
              <a:defRPr sz="1000">
                <a:solidFill>
                  <a:srgbClr val="212121"/>
                </a:solidFill>
              </a:defRPr>
            </a:pPr>
            <a:r>
              <a:t>Types: Screenshots, Diagrams, Scanned documents, Photos</a:t>
            </a:r>
          </a:p>
          <a:p>
            <a:pPr>
              <a:spcBef>
                <a:spcPts val="400"/>
              </a:spcBef>
              <a:defRPr sz="1000" i="1">
                <a:solidFill>
                  <a:srgbClr val="0099FF"/>
                </a:solidFill>
              </a:defRPr>
            </a:pPr>
            <a:r>
              <a:t>Features: OCR extraction • Multi-language • Layout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5720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💻 Code Files</a:t>
            </a:r>
          </a:p>
          <a:p>
            <a:pPr>
              <a:spcBef>
                <a:spcPts val="400"/>
              </a:spcBef>
              <a:defRPr sz="1000">
                <a:solidFill>
                  <a:srgbClr val="212121"/>
                </a:solidFill>
              </a:defRPr>
            </a:pPr>
            <a:r>
              <a:t>Types: Source code, Scripts, Config files, Logs</a:t>
            </a:r>
          </a:p>
          <a:p>
            <a:pPr>
              <a:spcBef>
                <a:spcPts val="400"/>
              </a:spcBef>
              <a:defRPr sz="1000" i="1">
                <a:solidFill>
                  <a:srgbClr val="0099FF"/>
                </a:solidFill>
              </a:defRPr>
            </a:pPr>
            <a:r>
              <a:t>Features: Syntax highlighting • Language detection • Pattern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5720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🗄️ Archives</a:t>
            </a:r>
          </a:p>
          <a:p>
            <a:pPr>
              <a:spcBef>
                <a:spcPts val="400"/>
              </a:spcBef>
              <a:defRPr sz="1000">
                <a:solidFill>
                  <a:srgbClr val="212121"/>
                </a:solidFill>
              </a:defRPr>
            </a:pPr>
            <a:r>
              <a:t>Types: ZIP files, TAR archives, Compressed logs, Backup files</a:t>
            </a:r>
          </a:p>
          <a:p>
            <a:pPr>
              <a:spcBef>
                <a:spcPts val="400"/>
              </a:spcBef>
              <a:defRPr sz="1000" i="1">
                <a:solidFill>
                  <a:srgbClr val="0099FF"/>
                </a:solidFill>
              </a:defRPr>
            </a:pPr>
            <a:r>
              <a:t>Features: Recursive extraction • Content indexing • Size limits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Data Flow Pipeline</a:t>
            </a:r>
          </a:p>
        </p:txBody>
      </p:sp>
      <p:sp>
        <p:nvSpPr>
          <p:cNvPr id="3" name="Chevron 2"/>
          <p:cNvSpPr/>
          <p:nvPr/>
        </p:nvSpPr>
        <p:spPr>
          <a:xfrm>
            <a:off x="457200" y="2743200"/>
            <a:ext cx="1828800" cy="1371600"/>
          </a:xfrm>
          <a:prstGeom prst="chevron">
            <a:avLst/>
          </a:prstGeom>
          <a:solidFill>
            <a:srgbClr val="009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828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1. Input</a:t>
            </a:r>
            <a:br/>
            <a:r>
              <a:t>User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12121"/>
                </a:solidFill>
              </a:defRPr>
            </a:pPr>
            <a:r>
              <a:t>Natural language input</a:t>
            </a:r>
          </a:p>
        </p:txBody>
      </p:sp>
      <p:sp>
        <p:nvSpPr>
          <p:cNvPr id="6" name="Chevron 5"/>
          <p:cNvSpPr/>
          <p:nvPr/>
        </p:nvSpPr>
        <p:spPr>
          <a:xfrm>
            <a:off x="2286000" y="3200400"/>
            <a:ext cx="1828800" cy="1371600"/>
          </a:xfrm>
          <a:prstGeom prst="chevron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3383280"/>
            <a:ext cx="1828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2. Analysis</a:t>
            </a:r>
            <a:br/>
            <a:r>
              <a:t>Query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663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12121"/>
                </a:solidFill>
              </a:defRPr>
            </a:pPr>
            <a:r>
              <a:t>NLP &amp; extraction</a:t>
            </a:r>
          </a:p>
        </p:txBody>
      </p:sp>
      <p:sp>
        <p:nvSpPr>
          <p:cNvPr id="9" name="Chevron 8"/>
          <p:cNvSpPr/>
          <p:nvPr/>
        </p:nvSpPr>
        <p:spPr>
          <a:xfrm>
            <a:off x="4114800" y="2743200"/>
            <a:ext cx="1828800" cy="1371600"/>
          </a:xfrm>
          <a:prstGeom prst="chevron">
            <a:avLst/>
          </a:prstGeom>
          <a:solidFill>
            <a:srgbClr val="009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2926080"/>
            <a:ext cx="1828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3. Fetch</a:t>
            </a:r>
            <a:br/>
            <a:r>
              <a:t>Source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206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12121"/>
                </a:solidFill>
              </a:defRPr>
            </a:pPr>
            <a:r>
              <a:t>Parallel API calls</a:t>
            </a:r>
          </a:p>
        </p:txBody>
      </p:sp>
      <p:sp>
        <p:nvSpPr>
          <p:cNvPr id="12" name="Chevron 11"/>
          <p:cNvSpPr/>
          <p:nvPr/>
        </p:nvSpPr>
        <p:spPr>
          <a:xfrm>
            <a:off x="5943600" y="3200400"/>
            <a:ext cx="1828800" cy="1371600"/>
          </a:xfrm>
          <a:prstGeom prst="chevron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0" y="3383280"/>
            <a:ext cx="1828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4. Process</a:t>
            </a:r>
            <a:br/>
            <a:r>
              <a:t>Data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663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12121"/>
                </a:solidFill>
              </a:defRPr>
            </a:pPr>
            <a:r>
              <a:t>Clean &amp; structure</a:t>
            </a:r>
          </a:p>
        </p:txBody>
      </p:sp>
      <p:sp>
        <p:nvSpPr>
          <p:cNvPr id="15" name="Chevron 14"/>
          <p:cNvSpPr/>
          <p:nvPr/>
        </p:nvSpPr>
        <p:spPr>
          <a:xfrm>
            <a:off x="7772400" y="2743200"/>
            <a:ext cx="1828800" cy="1371600"/>
          </a:xfrm>
          <a:prstGeom prst="chevron">
            <a:avLst/>
          </a:prstGeom>
          <a:solidFill>
            <a:srgbClr val="009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2926080"/>
            <a:ext cx="1828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5. Index</a:t>
            </a:r>
            <a:br/>
            <a:r>
              <a:t>RAG Population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206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12121"/>
                </a:solidFill>
              </a:defRPr>
            </a:pPr>
            <a:r>
              <a:t>Embeddings &amp; search</a:t>
            </a:r>
          </a:p>
        </p:txBody>
      </p:sp>
      <p:sp>
        <p:nvSpPr>
          <p:cNvPr id="18" name="Chevron 17"/>
          <p:cNvSpPr/>
          <p:nvPr/>
        </p:nvSpPr>
        <p:spPr>
          <a:xfrm>
            <a:off x="9601200" y="3200400"/>
            <a:ext cx="1828800" cy="1371600"/>
          </a:xfrm>
          <a:prstGeom prst="chevron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0" y="3383280"/>
            <a:ext cx="1828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6. Synthesize</a:t>
            </a:r>
            <a:br/>
            <a:r>
              <a:t>Report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663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12121"/>
                </a:solidFill>
              </a:defRPr>
            </a:pPr>
            <a:r>
              <a:t>AI synthesis</a:t>
            </a:r>
          </a:p>
        </p:txBody>
      </p:sp>
      <p:sp>
        <p:nvSpPr>
          <p:cNvPr id="21" name="Chevron 20"/>
          <p:cNvSpPr/>
          <p:nvPr/>
        </p:nvSpPr>
        <p:spPr>
          <a:xfrm>
            <a:off x="11430000" y="2743200"/>
            <a:ext cx="1828800" cy="1371600"/>
          </a:xfrm>
          <a:prstGeom prst="chevron">
            <a:avLst/>
          </a:prstGeom>
          <a:solidFill>
            <a:srgbClr val="009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0" y="2926080"/>
            <a:ext cx="1828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7. Refine</a:t>
            </a:r>
            <a:br/>
            <a:r>
              <a:t>Quality Enhancement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4206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12121"/>
                </a:solidFill>
              </a:defRPr>
            </a:pPr>
            <a:r>
              <a:t>Iterative improvement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0" y="3200400"/>
            <a:ext cx="1828800" cy="137160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258800" y="3383280"/>
            <a:ext cx="1828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AFAFA"/>
                </a:solidFill>
              </a:defRPr>
            </a:pPr>
            <a:r>
              <a:t>8. Output</a:t>
            </a:r>
            <a:br/>
            <a:r>
              <a:t>Final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0" y="4663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12121"/>
                </a:solidFill>
              </a:defRPr>
            </a:pPr>
            <a:r>
              <a:t>Structured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4864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Data Characteristics Throughout Pipeline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Volume: MB → GB • Format: Text → Structured → Embeddings → Report • Quality: Raw → Cleaned → Validated → Refined • Sources: Single → Multiple → Correlated → Unified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Cross-Source Analysis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2286000"/>
          </a:xfrm>
          <a:prstGeom prst="roundRect">
            <a:avLst/>
          </a:prstGeom>
          <a:solidFill>
            <a:srgbClr val="FAFAFF"/>
          </a:solidFill>
          <a:ln w="254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C66"/>
                </a:solidFill>
              </a:defRPr>
            </a:pPr>
            <a:r>
              <a:t>Temporal Correlation</a:t>
            </a:r>
          </a:p>
          <a:p>
            <a:pPr>
              <a:spcBef>
                <a:spcPts val="400"/>
              </a:spcBef>
              <a:defRPr sz="1100" i="1">
                <a:solidFill>
                  <a:srgbClr val="212121"/>
                </a:solidFill>
              </a:defRPr>
            </a:pPr>
            <a:r>
              <a:t>Timeline-based relationship discovery</a:t>
            </a:r>
          </a:p>
          <a:p>
            <a:pPr>
              <a:spcBef>
                <a:spcPts val="600"/>
              </a:spcBef>
              <a:defRPr sz="1000" b="1"/>
            </a:pPr>
            <a:r>
              <a:t>Examples:</a:t>
            </a:r>
          </a:p>
          <a:p>
            <a:pPr lvl="1">
              <a:defRPr sz="1000">
                <a:solidFill>
                  <a:srgbClr val="212121"/>
                </a:solidFill>
              </a:defRPr>
            </a:pPr>
            <a:r>
              <a:t>• JIRA created → Code changed → Doc updated</a:t>
            </a:r>
          </a:p>
          <a:p>
            <a:pPr lvl="1">
              <a:defRPr sz="1000">
                <a:solidFill>
                  <a:srgbClr val="212121"/>
                </a:solidFill>
              </a:defRPr>
            </a:pPr>
            <a:r>
              <a:t>• Issue reported → Fix deployed → Verified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828800"/>
            <a:ext cx="3657600" cy="2286000"/>
          </a:xfrm>
          <a:prstGeom prst="roundRect">
            <a:avLst/>
          </a:prstGeom>
          <a:solidFill>
            <a:srgbClr val="FAFAFF"/>
          </a:solidFill>
          <a:ln w="254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C66"/>
                </a:solidFill>
              </a:defRPr>
            </a:pPr>
            <a:r>
              <a:t>Entity Mapping</a:t>
            </a:r>
          </a:p>
          <a:p>
            <a:pPr>
              <a:spcBef>
                <a:spcPts val="400"/>
              </a:spcBef>
              <a:defRPr sz="1100" i="1">
                <a:solidFill>
                  <a:srgbClr val="212121"/>
                </a:solidFill>
              </a:defRPr>
            </a:pPr>
            <a:r>
              <a:t>Connecting related entities across systems</a:t>
            </a:r>
          </a:p>
          <a:p>
            <a:pPr>
              <a:spcBef>
                <a:spcPts val="600"/>
              </a:spcBef>
              <a:defRPr sz="1000" b="1"/>
            </a:pPr>
            <a:r>
              <a:t>Examples:</a:t>
            </a:r>
          </a:p>
          <a:p>
            <a:pPr lvl="1">
              <a:defRPr sz="1000">
                <a:solidFill>
                  <a:srgbClr val="212121"/>
                </a:solidFill>
              </a:defRPr>
            </a:pPr>
            <a:r>
              <a:t>• VIT-12345 ↔ CL 27319450 ↔ Page MTV1064</a:t>
            </a:r>
          </a:p>
          <a:p>
            <a:pPr lvl="1">
              <a:defRPr sz="1000">
                <a:solidFill>
                  <a:srgbClr val="212121"/>
                </a:solidFill>
              </a:defRPr>
            </a:pPr>
            <a:r>
              <a:t>• User activity across all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828800"/>
            <a:ext cx="3657600" cy="2286000"/>
          </a:xfrm>
          <a:prstGeom prst="roundRect">
            <a:avLst/>
          </a:prstGeom>
          <a:solidFill>
            <a:srgbClr val="FAFAFF"/>
          </a:solidFill>
          <a:ln w="254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C66"/>
                </a:solidFill>
              </a:defRPr>
            </a:pPr>
            <a:r>
              <a:t>Pattern Detection</a:t>
            </a:r>
          </a:p>
          <a:p>
            <a:pPr>
              <a:spcBef>
                <a:spcPts val="400"/>
              </a:spcBef>
              <a:defRPr sz="1100" i="1">
                <a:solidFill>
                  <a:srgbClr val="212121"/>
                </a:solidFill>
              </a:defRPr>
            </a:pPr>
            <a:r>
              <a:t>Identifying recurring patterns</a:t>
            </a:r>
          </a:p>
          <a:p>
            <a:pPr>
              <a:spcBef>
                <a:spcPts val="600"/>
              </a:spcBef>
              <a:defRPr sz="1000" b="1"/>
            </a:pPr>
            <a:r>
              <a:t>Examples:</a:t>
            </a:r>
          </a:p>
          <a:p>
            <a:pPr lvl="1">
              <a:defRPr sz="1000">
                <a:solidFill>
                  <a:srgbClr val="212121"/>
                </a:solidFill>
              </a:defRPr>
            </a:pPr>
            <a:r>
              <a:t>• Similar bugs across components</a:t>
            </a:r>
          </a:p>
          <a:p>
            <a:pPr lvl="1">
              <a:defRPr sz="1000">
                <a:solidFill>
                  <a:srgbClr val="212121"/>
                </a:solidFill>
              </a:defRPr>
            </a:pPr>
            <a:r>
              <a:t>• Code change patterns by 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3657600" cy="2286000"/>
          </a:xfrm>
          <a:prstGeom prst="roundRect">
            <a:avLst/>
          </a:prstGeom>
          <a:solidFill>
            <a:srgbClr val="FAFAFF"/>
          </a:solidFill>
          <a:ln w="254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C66"/>
                </a:solidFill>
              </a:defRPr>
            </a:pPr>
            <a:r>
              <a:t>Impact Analysis</a:t>
            </a:r>
          </a:p>
          <a:p>
            <a:pPr>
              <a:spcBef>
                <a:spcPts val="400"/>
              </a:spcBef>
              <a:defRPr sz="1100" i="1">
                <a:solidFill>
                  <a:srgbClr val="212121"/>
                </a:solidFill>
              </a:defRPr>
            </a:pPr>
            <a:r>
              <a:t>Understanding change effects</a:t>
            </a:r>
          </a:p>
          <a:p>
            <a:pPr>
              <a:spcBef>
                <a:spcPts val="600"/>
              </a:spcBef>
              <a:defRPr sz="1000" b="1"/>
            </a:pPr>
            <a:r>
              <a:t>Examples:</a:t>
            </a:r>
          </a:p>
          <a:p>
            <a:pPr lvl="1">
              <a:defRPr sz="1000">
                <a:solidFill>
                  <a:srgbClr val="212121"/>
                </a:solidFill>
              </a:defRPr>
            </a:pPr>
            <a:r>
              <a:t>• API change → Affected services</a:t>
            </a:r>
          </a:p>
          <a:p>
            <a:pPr lvl="1">
              <a:defRPr sz="1000">
                <a:solidFill>
                  <a:srgbClr val="212121"/>
                </a:solidFill>
              </a:defRPr>
            </a:pPr>
            <a:r>
              <a:t>• Bug fix → Related issues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572000"/>
            <a:ext cx="3657600" cy="2286000"/>
          </a:xfrm>
          <a:prstGeom prst="roundRect">
            <a:avLst/>
          </a:prstGeom>
          <a:solidFill>
            <a:srgbClr val="FAFAFF"/>
          </a:solidFill>
          <a:ln w="254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C66"/>
                </a:solidFill>
              </a:defRPr>
            </a:pPr>
            <a:r>
              <a:t>Dependency Tracking</a:t>
            </a:r>
          </a:p>
          <a:p>
            <a:pPr>
              <a:spcBef>
                <a:spcPts val="400"/>
              </a:spcBef>
              <a:defRPr sz="1100" i="1">
                <a:solidFill>
                  <a:srgbClr val="212121"/>
                </a:solidFill>
              </a:defRPr>
            </a:pPr>
            <a:r>
              <a:t>Mapping system dependencies</a:t>
            </a:r>
          </a:p>
          <a:p>
            <a:pPr>
              <a:spcBef>
                <a:spcPts val="600"/>
              </a:spcBef>
              <a:defRPr sz="1000" b="1"/>
            </a:pPr>
            <a:r>
              <a:t>Examples:</a:t>
            </a:r>
          </a:p>
          <a:p>
            <a:pPr lvl="1">
              <a:defRPr sz="1000">
                <a:solidFill>
                  <a:srgbClr val="212121"/>
                </a:solidFill>
              </a:defRPr>
            </a:pPr>
            <a:r>
              <a:t>• Service dependencies</a:t>
            </a:r>
          </a:p>
          <a:p>
            <a:pPr lvl="1">
              <a:defRPr sz="1000">
                <a:solidFill>
                  <a:srgbClr val="212121"/>
                </a:solidFill>
              </a:defRPr>
            </a:pPr>
            <a:r>
              <a:t>• Data flow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4572000"/>
            <a:ext cx="3657600" cy="2286000"/>
          </a:xfrm>
          <a:prstGeom prst="roundRect">
            <a:avLst/>
          </a:prstGeom>
          <a:solidFill>
            <a:srgbClr val="FAFAFF"/>
          </a:solidFill>
          <a:ln w="254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C66"/>
                </a:solidFill>
              </a:defRPr>
            </a:pPr>
            <a:r>
              <a:t>Knowledge Synthesis</a:t>
            </a:r>
          </a:p>
          <a:p>
            <a:pPr>
              <a:spcBef>
                <a:spcPts val="400"/>
              </a:spcBef>
              <a:defRPr sz="1100" i="1">
                <a:solidFill>
                  <a:srgbClr val="212121"/>
                </a:solidFill>
              </a:defRPr>
            </a:pPr>
            <a:r>
              <a:t>Creating unified understanding</a:t>
            </a:r>
          </a:p>
          <a:p>
            <a:pPr>
              <a:spcBef>
                <a:spcPts val="600"/>
              </a:spcBef>
              <a:defRPr sz="1000" b="1"/>
            </a:pPr>
            <a:r>
              <a:t>Examples:</a:t>
            </a:r>
          </a:p>
          <a:p>
            <a:pPr lvl="1">
              <a:defRPr sz="1000">
                <a:solidFill>
                  <a:srgbClr val="212121"/>
                </a:solidFill>
              </a:defRPr>
            </a:pPr>
            <a:r>
              <a:t>• Complete feature history</a:t>
            </a:r>
          </a:p>
          <a:p>
            <a:pPr lvl="1">
              <a:defRPr sz="1000">
                <a:solidFill>
                  <a:srgbClr val="212121"/>
                </a:solidFill>
              </a:defRPr>
            </a:pPr>
            <a:r>
              <a:t>• Full bug lifecycle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Advanced Code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9FF"/>
                </a:solidFill>
              </a:defRPr>
            </a:pPr>
            <a:r>
              <a:t>🔍 API Endpoint Extraction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REST/SOAP endpoint detection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Method type identification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Parameter analysis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Route mapping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8288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9FF"/>
                </a:solidFill>
              </a:defRPr>
            </a:pPr>
            <a:r>
              <a:t>📝 Diff Analysis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Line-by-line changes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Context preservation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Change categorization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Impact assessment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8288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9FF"/>
                </a:solidFill>
              </a:defRPr>
            </a:pPr>
            <a:r>
              <a:t>🎯 Pattern Recognition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Code smell detection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Security patterns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Best practice violations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Duplicate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9FF"/>
                </a:solidFill>
              </a:defRPr>
            </a:pPr>
            <a:r>
              <a:t>🔗 Dependency Analysis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Import tracking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Function calls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Class relationships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Module dependencies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5720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9FF"/>
                </a:solidFill>
              </a:defRPr>
            </a:pPr>
            <a:r>
              <a:t>💡 Language Detection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Auto language identification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Syntax highlighting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Language-specific parsing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Multi-language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45720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9FF"/>
                </a:solidFill>
              </a:defRPr>
            </a:pPr>
            <a:r>
              <a:t>📊 Metrics Extraction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Complexity metrics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Change frequency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Code coverage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Technical debt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Multi-Agent Verification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5486400" cy="109728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5120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AFAFA"/>
                </a:solidFill>
              </a:defRPr>
            </a:pPr>
            <a:r>
              <a:t>Fact Checking Agent: Validates claims against source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8288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Source verification • Data accuracy • Citation validity • Context preservation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5486400" cy="109728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5120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AFAFA"/>
                </a:solidFill>
              </a:defRPr>
            </a:pPr>
            <a:r>
              <a:t>Consistency Agent: Ensures information coherence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2004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Cross-source agreement • Timeline consistency • No contradictions • Complete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5486400" cy="109728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5120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AFAFA"/>
                </a:solidFill>
              </a:defRPr>
            </a:pPr>
            <a:r>
              <a:t>Quality Scoring Agent: Evaluates report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5720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Completeness score • Clarity assessment • Technical accuracy • Actionability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Quality Metrics: </a:t>
            </a:r>
            <a:r>
              <a:rPr sz="1400">
                <a:solidFill>
                  <a:srgbClr val="00CC66"/>
                </a:solidFill>
              </a:rPr>
              <a:t>Accuracy: 99.9% • Coverage: 100% • Citations: 100% • Clarity: 95%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Performance Optimizations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2286000"/>
          </a:xfrm>
          <a:prstGeom prst="roundRect">
            <a:avLst/>
          </a:prstGeom>
          <a:solidFill>
            <a:srgbClr val="FAFFFA"/>
          </a:solidFill>
          <a:ln w="254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C66"/>
                </a:solidFill>
              </a:defRPr>
            </a:pPr>
            <a:r>
              <a:t>⚡ Parallel Execution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Asyncio for concurrent operations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ThreadPoolExecutor for CPU tasks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Semaphore-limited connections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5-10x speed improvement</a:t>
            </a:r>
          </a:p>
          <a:p>
            <a:pPr>
              <a:spcBef>
                <a:spcPts val="600"/>
              </a:spcBef>
              <a:defRPr sz="1100" b="1">
                <a:solidFill>
                  <a:srgbClr val="FF9900"/>
                </a:solidFill>
              </a:defRPr>
            </a:pPr>
            <a:r>
              <a:t>Sequential: 120s → Parallel: 15s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828800"/>
            <a:ext cx="3657600" cy="2286000"/>
          </a:xfrm>
          <a:prstGeom prst="roundRect">
            <a:avLst/>
          </a:prstGeom>
          <a:solidFill>
            <a:srgbClr val="FAFFFA"/>
          </a:solidFill>
          <a:ln w="254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C66"/>
                </a:solidFill>
              </a:defRPr>
            </a:pPr>
            <a:r>
              <a:t>💾 Smart Caching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TTL-based cache (30 min)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LRU eviction policy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Session persistence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API call reduction</a:t>
            </a:r>
          </a:p>
          <a:p>
            <a:pPr>
              <a:spcBef>
                <a:spcPts val="600"/>
              </a:spcBef>
              <a:defRPr sz="1100" b="1">
                <a:solidFill>
                  <a:srgbClr val="FF9900"/>
                </a:solidFill>
              </a:defRPr>
            </a:pPr>
            <a:r>
              <a:t>Cache hit rate: 70%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828800"/>
            <a:ext cx="3657600" cy="2286000"/>
          </a:xfrm>
          <a:prstGeom prst="roundRect">
            <a:avLst/>
          </a:prstGeom>
          <a:solidFill>
            <a:srgbClr val="FAFFFA"/>
          </a:solidFill>
          <a:ln w="254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C66"/>
                </a:solidFill>
              </a:defRPr>
            </a:pPr>
            <a:r>
              <a:t>🔄 Connection Pooling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Persistent HTTP sessions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Connection reuse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Automatic retry logic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Exponential backoff</a:t>
            </a:r>
          </a:p>
          <a:p>
            <a:pPr>
              <a:spcBef>
                <a:spcPts val="600"/>
              </a:spcBef>
              <a:defRPr sz="1100" b="1">
                <a:solidFill>
                  <a:srgbClr val="FF9900"/>
                </a:solidFill>
              </a:defRPr>
            </a:pPr>
            <a:r>
              <a:t>Connections: 100 →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3657600" cy="2286000"/>
          </a:xfrm>
          <a:prstGeom prst="roundRect">
            <a:avLst/>
          </a:prstGeom>
          <a:solidFill>
            <a:srgbClr val="FAFFFA"/>
          </a:solidFill>
          <a:ln w="254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C66"/>
                </a:solidFill>
              </a:defRPr>
            </a:pPr>
            <a:r>
              <a:t>📊 Batch Processing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Bulk API operations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Chunked embedding generation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Streaming responses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Memory efficiency</a:t>
            </a:r>
          </a:p>
          <a:p>
            <a:pPr>
              <a:spcBef>
                <a:spcPts val="600"/>
              </a:spcBef>
              <a:defRPr sz="1100" b="1">
                <a:solidFill>
                  <a:srgbClr val="FF9900"/>
                </a:solidFill>
              </a:defRPr>
            </a:pPr>
            <a:r>
              <a:t>Memory: 2GB → 500MB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572000"/>
            <a:ext cx="3657600" cy="2286000"/>
          </a:xfrm>
          <a:prstGeom prst="roundRect">
            <a:avLst/>
          </a:prstGeom>
          <a:solidFill>
            <a:srgbClr val="FAFFFA"/>
          </a:solidFill>
          <a:ln w="254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C66"/>
                </a:solidFill>
              </a:defRPr>
            </a:pPr>
            <a:r>
              <a:t>🛡️ Circuit Breaker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Prevents cascade failures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Automatic recovery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Configurable thresholds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Graceful degradation</a:t>
            </a:r>
          </a:p>
          <a:p>
            <a:pPr>
              <a:spcBef>
                <a:spcPts val="600"/>
              </a:spcBef>
              <a:defRPr sz="1100" b="1">
                <a:solidFill>
                  <a:srgbClr val="FF9900"/>
                </a:solidFill>
              </a:defRPr>
            </a:pPr>
            <a:r>
              <a:t>Reliability: 99.95%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4572000"/>
            <a:ext cx="3657600" cy="2286000"/>
          </a:xfrm>
          <a:prstGeom prst="roundRect">
            <a:avLst/>
          </a:prstGeom>
          <a:solidFill>
            <a:srgbClr val="FAFFFA"/>
          </a:solidFill>
          <a:ln w="254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C66"/>
                </a:solidFill>
              </a:defRPr>
            </a:pPr>
            <a:r>
              <a:t>🎯 Query Optimization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Smart result limiting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Relevance filtering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Early termination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Index optimization</a:t>
            </a:r>
          </a:p>
          <a:p>
            <a:pPr>
              <a:spcBef>
                <a:spcPts val="600"/>
              </a:spcBef>
              <a:defRPr sz="1100" b="1">
                <a:solidFill>
                  <a:srgbClr val="FF9900"/>
                </a:solidFill>
              </a:defRPr>
            </a:pPr>
            <a:r>
              <a:t>Query time: 5s → 0.5s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Multi-Layer Caching Strategy</a:t>
            </a:r>
          </a:p>
        </p:txBody>
      </p:sp>
      <p:sp>
        <p:nvSpPr>
          <p:cNvPr id="3" name="Trapezoid 2"/>
          <p:cNvSpPr/>
          <p:nvPr/>
        </p:nvSpPr>
        <p:spPr>
          <a:xfrm>
            <a:off x="2743200" y="1828800"/>
            <a:ext cx="9144000" cy="914400"/>
          </a:xfrm>
          <a:prstGeom prst="trapezoid">
            <a:avLst/>
          </a:prstGeom>
          <a:solidFill>
            <a:srgbClr val="00336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0" y="19202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12121"/>
                </a:solidFill>
              </a:defRPr>
            </a:pPr>
            <a:r>
              <a:t>Query Cache • TTL: 5 minutes • Size: 1000 entries • Hit Rate: 45%</a:t>
            </a:r>
          </a:p>
        </p:txBody>
      </p:sp>
      <p:sp>
        <p:nvSpPr>
          <p:cNvPr id="5" name="Trapezoid 4"/>
          <p:cNvSpPr/>
          <p:nvPr/>
        </p:nvSpPr>
        <p:spPr>
          <a:xfrm>
            <a:off x="3657600" y="2926080"/>
            <a:ext cx="7315200" cy="914400"/>
          </a:xfrm>
          <a:prstGeom prst="trapezoid">
            <a:avLst/>
          </a:prstGeom>
          <a:solidFill>
            <a:srgbClr val="0099FF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0" y="30175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12121"/>
                </a:solidFill>
              </a:defRPr>
            </a:pPr>
            <a:r>
              <a:t>Page Cache • TTL: 30 minutes • Size: 5000 entries • Hit Rate: 70%</a:t>
            </a:r>
          </a:p>
        </p:txBody>
      </p:sp>
      <p:sp>
        <p:nvSpPr>
          <p:cNvPr id="7" name="Trapezoid 6"/>
          <p:cNvSpPr/>
          <p:nvPr/>
        </p:nvSpPr>
        <p:spPr>
          <a:xfrm>
            <a:off x="4572000" y="4023360"/>
            <a:ext cx="5486400" cy="914400"/>
          </a:xfrm>
          <a:prstGeom prst="trapezoid">
            <a:avLst/>
          </a:prstGeom>
          <a:solidFill>
            <a:srgbClr val="00CC66"/>
          </a:solidFill>
          <a:ln w="254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41148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12121"/>
                </a:solidFill>
              </a:defRPr>
            </a:pPr>
            <a:r>
              <a:t>Embedding Cache • TTL: 24 hours • Size: 20000 vectors • Hit Rate: 85%</a:t>
            </a:r>
          </a:p>
        </p:txBody>
      </p:sp>
      <p:sp>
        <p:nvSpPr>
          <p:cNvPr id="9" name="Trapezoid 8"/>
          <p:cNvSpPr/>
          <p:nvPr/>
        </p:nvSpPr>
        <p:spPr>
          <a:xfrm>
            <a:off x="5486400" y="5120640"/>
            <a:ext cx="3657600" cy="914400"/>
          </a:xfrm>
          <a:prstGeom prst="trapezoid">
            <a:avLst/>
          </a:prstGeom>
          <a:solidFill>
            <a:srgbClr val="FF9900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0" y="5212079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12121"/>
                </a:solidFill>
              </a:defRPr>
            </a:pPr>
            <a:r>
              <a:t>Session Cache • TTL: 1 hour • Size: Unlimited • Hit Rate: 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Cache Benefits: </a:t>
            </a:r>
            <a:r>
              <a:rPr sz="1200">
                <a:solidFill>
                  <a:srgbClr val="212121"/>
                </a:solidFill>
              </a:rPr>
              <a:t>70% API call reduction • 10x faster repeated queries • Reduced backend load • Cost savings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Session Management &amp; State Persistence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Session Creation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Unique session ID generation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Timestamp tracking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User association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Context initialization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8288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State Persistence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Node state snapshots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Intermediate results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Error recovery points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Metric collection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828800"/>
            <a:ext cx="365760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Session Storage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File-based persistence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JSON serialization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Compression support</a:t>
            </a:r>
          </a:p>
          <a:p>
            <a:pPr>
              <a:spcBef>
                <a:spcPts val="400"/>
              </a:spcBef>
              <a:defRPr sz="1100">
                <a:solidFill>
                  <a:srgbClr val="212121"/>
                </a:solidFill>
              </a:defRPr>
            </a:pPr>
            <a:r>
              <a:t>• Automatic cleanup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572000"/>
            <a:ext cx="10972800" cy="1828800"/>
          </a:xfrm>
          <a:prstGeom prst="roundRect">
            <a:avLst/>
          </a:prstGeom>
          <a:solidFill>
            <a:srgbClr val="282A3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680" y="4754880"/>
            <a:ext cx="106070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AFAFA"/>
                </a:solidFill>
                <a:latin typeface="Consolas"/>
              </a:defRPr>
            </a:pPr>
            <a:r>
              <a:t>sessions/</a:t>
            </a:r>
            <a:br/>
            <a:r>
              <a:t>├── active/</a:t>
            </a:r>
            <a:br/>
            <a:r>
              <a:t>│   └── session_id_timestamp/</a:t>
            </a:r>
            <a:br/>
            <a:r>
              <a:t>│       ├── metadata.json</a:t>
            </a:r>
            <a:br/>
            <a:r>
              <a:t>│       ├── node_states/</a:t>
            </a:r>
            <a:br/>
            <a:r>
              <a:t>│       ├── outputs/</a:t>
            </a:r>
            <a:br/>
            <a:r>
              <a:t>│       └── logs/</a:t>
            </a:r>
            <a:br/>
            <a:r>
              <a:t>└── archived/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dirty="0"/>
              <a:t>Graph Nodes - Detailed Functions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2286000"/>
          </a:xfrm>
          <a:prstGeom prst="roundRect">
            <a:avLst/>
          </a:prstGeom>
          <a:solidFill>
            <a:srgbClr val="F5F5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Consolas"/>
              </a:defRPr>
            </a:pPr>
            <a:r>
              <a:rPr dirty="0" err="1"/>
              <a:t>process_search_query</a:t>
            </a:r>
          </a:p>
          <a:p>
            <a:pPr>
              <a:spcBef>
                <a:spcPts val="400"/>
              </a:spcBef>
              <a:defRPr sz="1100" i="1">
                <a:solidFill>
                  <a:srgbClr val="0099FF"/>
                </a:solidFill>
              </a:defRPr>
            </a:pPr>
            <a:r>
              <a:rPr dirty="0"/>
              <a:t>Entry point &amp; query analysis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NLP processing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Entity extraction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Intent classification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Search 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828800"/>
            <a:ext cx="3657600" cy="2286000"/>
          </a:xfrm>
          <a:prstGeom prst="roundRect">
            <a:avLst/>
          </a:prstGeom>
          <a:solidFill>
            <a:srgbClr val="F5F5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Consolas"/>
              </a:defRPr>
            </a:pPr>
            <a:r>
              <a:rPr dirty="0" err="1"/>
              <a:t>parallel_fetch_all_sources</a:t>
            </a:r>
          </a:p>
          <a:p>
            <a:pPr>
              <a:spcBef>
                <a:spcPts val="400"/>
              </a:spcBef>
              <a:defRPr sz="1100" i="1">
                <a:solidFill>
                  <a:srgbClr val="0099FF"/>
                </a:solidFill>
              </a:defRPr>
            </a:pPr>
            <a:r>
              <a:rPr dirty="0"/>
              <a:t>Concurrent data retrieval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Async execution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API orchestration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Error handling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Result aggregation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828800"/>
            <a:ext cx="3657600" cy="2286000"/>
          </a:xfrm>
          <a:prstGeom prst="roundRect">
            <a:avLst/>
          </a:prstGeom>
          <a:solidFill>
            <a:srgbClr val="F5F5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Consolas"/>
              </a:defRPr>
            </a:pPr>
            <a:r>
              <a:rPr dirty="0" err="1"/>
              <a:t>intelligent_cross_source_search</a:t>
            </a:r>
          </a:p>
          <a:p>
            <a:pPr>
              <a:spcBef>
                <a:spcPts val="400"/>
              </a:spcBef>
              <a:defRPr sz="1100" i="1">
                <a:solidFill>
                  <a:srgbClr val="0099FF"/>
                </a:solidFill>
              </a:defRPr>
            </a:pPr>
            <a:r>
              <a:rPr dirty="0"/>
              <a:t>Smart search discovery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Pattern analysis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Identifier extraction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Search expansion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Strategy planning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3657600" cy="2286000"/>
          </a:xfrm>
          <a:prstGeom prst="roundRect">
            <a:avLst/>
          </a:prstGeom>
          <a:solidFill>
            <a:srgbClr val="F5F5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Consolas"/>
              </a:defRPr>
            </a:pPr>
            <a:r>
              <a:rPr dirty="0" err="1"/>
              <a:t>populate_rag_system</a:t>
            </a:r>
          </a:p>
          <a:p>
            <a:pPr>
              <a:spcBef>
                <a:spcPts val="400"/>
              </a:spcBef>
              <a:defRPr sz="1100" i="1">
                <a:solidFill>
                  <a:srgbClr val="0099FF"/>
                </a:solidFill>
              </a:defRPr>
            </a:pPr>
            <a:r>
              <a:rPr dirty="0"/>
              <a:t>Knowledge base building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Content chunking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Embedding generation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Index creation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Metadata 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572000"/>
            <a:ext cx="3657600" cy="2286000"/>
          </a:xfrm>
          <a:prstGeom prst="roundRect">
            <a:avLst/>
          </a:prstGeom>
          <a:solidFill>
            <a:srgbClr val="F5F5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Consolas"/>
              </a:defRPr>
            </a:pPr>
            <a:r>
              <a:rPr dirty="0" err="1"/>
              <a:t>synthesize_comprehensive_report</a:t>
            </a:r>
          </a:p>
          <a:p>
            <a:pPr>
              <a:spcBef>
                <a:spcPts val="400"/>
              </a:spcBef>
              <a:defRPr sz="1100" i="1">
                <a:solidFill>
                  <a:srgbClr val="0099FF"/>
                </a:solidFill>
              </a:defRPr>
            </a:pPr>
            <a:r>
              <a:rPr dirty="0"/>
              <a:t>Initial report generation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Data aggregation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Cross-referencing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AI synthesis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Structure creation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4572000"/>
            <a:ext cx="3657600" cy="2286000"/>
          </a:xfrm>
          <a:prstGeom prst="roundRect">
            <a:avLst/>
          </a:prstGeom>
          <a:solidFill>
            <a:srgbClr val="F5F5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Consolas"/>
              </a:defRPr>
            </a:pPr>
            <a:r>
              <a:rPr dirty="0" err="1"/>
              <a:t>generate_final_summary</a:t>
            </a:r>
          </a:p>
          <a:p>
            <a:pPr>
              <a:spcBef>
                <a:spcPts val="400"/>
              </a:spcBef>
              <a:defRPr sz="1100" i="1">
                <a:solidFill>
                  <a:srgbClr val="0099FF"/>
                </a:solidFill>
              </a:defRPr>
            </a:pPr>
            <a:r>
              <a:rPr dirty="0"/>
              <a:t>Final output creation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5-section format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Citation validation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Quality scoring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• Formatting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API Integration Details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36576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32918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9FF"/>
                </a:solidFill>
              </a:defRPr>
            </a:pPr>
            <a:r>
              <a:t>JIRA REST API v3</a:t>
            </a:r>
          </a:p>
          <a:p>
            <a:pPr>
              <a:spcBef>
                <a:spcPts val="600"/>
              </a:spcBef>
              <a:defRPr sz="1200" b="1"/>
            </a:pPr>
            <a:r>
              <a:t>Endpoints:</a:t>
            </a:r>
          </a:p>
          <a:p>
            <a:pPr>
              <a:spcBef>
                <a:spcPts val="200"/>
              </a:spcBef>
              <a:defRPr sz="900">
                <a:solidFill>
                  <a:srgbClr val="212121"/>
                </a:solidFill>
                <a:latin typeface="Consolas"/>
              </a:defRPr>
            </a:pPr>
            <a:r>
              <a:t>/rest/api/3/search - JQL queries</a:t>
            </a:r>
          </a:p>
          <a:p>
            <a:pPr>
              <a:spcBef>
                <a:spcPts val="200"/>
              </a:spcBef>
              <a:defRPr sz="900">
                <a:solidFill>
                  <a:srgbClr val="212121"/>
                </a:solidFill>
                <a:latin typeface="Consolas"/>
              </a:defRPr>
            </a:pPr>
            <a:r>
              <a:t>/rest/api/3/issue/{key} - Issue details</a:t>
            </a:r>
          </a:p>
          <a:p>
            <a:pPr>
              <a:spcBef>
                <a:spcPts val="200"/>
              </a:spcBef>
              <a:defRPr sz="900">
                <a:solidFill>
                  <a:srgbClr val="212121"/>
                </a:solidFill>
                <a:latin typeface="Consolas"/>
              </a:defRPr>
            </a:pPr>
            <a:r>
              <a:t>/rest/api/3/issue/{key}/attachments - Files</a:t>
            </a:r>
          </a:p>
          <a:p>
            <a:pPr>
              <a:spcBef>
                <a:spcPts val="200"/>
              </a:spcBef>
              <a:defRPr sz="900">
                <a:solidFill>
                  <a:srgbClr val="212121"/>
                </a:solidFill>
                <a:latin typeface="Consolas"/>
              </a:defRPr>
            </a:pPr>
            <a:r>
              <a:t>/rest/agile/1.0/board - Agile boards</a:t>
            </a:r>
          </a:p>
          <a:p>
            <a:pPr>
              <a:spcBef>
                <a:spcPts val="800"/>
              </a:spcBef>
              <a:defRPr sz="1100" i="1">
                <a:solidFill>
                  <a:srgbClr val="003366"/>
                </a:solidFill>
              </a:defRPr>
            </a:pPr>
            <a:r>
              <a:t>Auth: Bearer token / Basic auth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828800"/>
            <a:ext cx="3657600" cy="36576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0" y="1920240"/>
            <a:ext cx="32918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9FF"/>
                </a:solidFill>
              </a:defRPr>
            </a:pPr>
            <a:r>
              <a:t>Confluence REST API</a:t>
            </a:r>
          </a:p>
          <a:p>
            <a:pPr>
              <a:spcBef>
                <a:spcPts val="600"/>
              </a:spcBef>
              <a:defRPr sz="1200" b="1"/>
            </a:pPr>
            <a:r>
              <a:t>Endpoints:</a:t>
            </a:r>
          </a:p>
          <a:p>
            <a:pPr>
              <a:spcBef>
                <a:spcPts val="200"/>
              </a:spcBef>
              <a:defRPr sz="900">
                <a:solidFill>
                  <a:srgbClr val="212121"/>
                </a:solidFill>
                <a:latin typeface="Consolas"/>
              </a:defRPr>
            </a:pPr>
            <a:r>
              <a:t>/rest/api/content/search - CQL search</a:t>
            </a:r>
          </a:p>
          <a:p>
            <a:pPr>
              <a:spcBef>
                <a:spcPts val="200"/>
              </a:spcBef>
              <a:defRPr sz="900">
                <a:solidFill>
                  <a:srgbClr val="212121"/>
                </a:solidFill>
                <a:latin typeface="Consolas"/>
              </a:defRPr>
            </a:pPr>
            <a:r>
              <a:t>/rest/api/content/{id} - Page content</a:t>
            </a:r>
          </a:p>
          <a:p>
            <a:pPr>
              <a:spcBef>
                <a:spcPts val="200"/>
              </a:spcBef>
              <a:defRPr sz="900">
                <a:solidFill>
                  <a:srgbClr val="212121"/>
                </a:solidFill>
                <a:latin typeface="Consolas"/>
              </a:defRPr>
            </a:pPr>
            <a:r>
              <a:t>/rest/api/content/{id}/child/attachment</a:t>
            </a:r>
          </a:p>
          <a:p>
            <a:pPr>
              <a:spcBef>
                <a:spcPts val="200"/>
              </a:spcBef>
              <a:defRPr sz="900">
                <a:solidFill>
                  <a:srgbClr val="212121"/>
                </a:solidFill>
                <a:latin typeface="Consolas"/>
              </a:defRPr>
            </a:pPr>
            <a:r>
              <a:t>/rest/api/space - Space info</a:t>
            </a:r>
          </a:p>
          <a:p>
            <a:pPr>
              <a:spcBef>
                <a:spcPts val="800"/>
              </a:spcBef>
              <a:defRPr sz="1100" i="1">
                <a:solidFill>
                  <a:srgbClr val="003366"/>
                </a:solidFill>
              </a:defRPr>
            </a:pPr>
            <a:r>
              <a:t>Auth: Bearer 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828800"/>
            <a:ext cx="3657600" cy="36576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1920240"/>
            <a:ext cx="32918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9FF"/>
                </a:solidFill>
              </a:defRPr>
            </a:pPr>
            <a:r>
              <a:t>Perforce P4 Python</a:t>
            </a:r>
          </a:p>
          <a:p>
            <a:pPr>
              <a:spcBef>
                <a:spcPts val="600"/>
              </a:spcBef>
              <a:defRPr sz="1200" b="1"/>
            </a:pPr>
            <a:r>
              <a:t>Endpoints:</a:t>
            </a:r>
          </a:p>
          <a:p>
            <a:pPr>
              <a:spcBef>
                <a:spcPts val="200"/>
              </a:spcBef>
              <a:defRPr sz="900">
                <a:solidFill>
                  <a:srgbClr val="212121"/>
                </a:solidFill>
                <a:latin typeface="Consolas"/>
              </a:defRPr>
            </a:pPr>
            <a:r>
              <a:t>p4.run_changes() - Change search</a:t>
            </a:r>
          </a:p>
          <a:p>
            <a:pPr>
              <a:spcBef>
                <a:spcPts val="200"/>
              </a:spcBef>
              <a:defRPr sz="900">
                <a:solidFill>
                  <a:srgbClr val="212121"/>
                </a:solidFill>
                <a:latin typeface="Consolas"/>
              </a:defRPr>
            </a:pPr>
            <a:r>
              <a:t>p4.run_describe() - CL details</a:t>
            </a:r>
          </a:p>
          <a:p>
            <a:pPr>
              <a:spcBef>
                <a:spcPts val="200"/>
              </a:spcBef>
              <a:defRPr sz="900">
                <a:solidFill>
                  <a:srgbClr val="212121"/>
                </a:solidFill>
                <a:latin typeface="Consolas"/>
              </a:defRPr>
            </a:pPr>
            <a:r>
              <a:t>p4.run_grep() - File content search</a:t>
            </a:r>
          </a:p>
          <a:p>
            <a:pPr>
              <a:spcBef>
                <a:spcPts val="200"/>
              </a:spcBef>
              <a:defRPr sz="900">
                <a:solidFill>
                  <a:srgbClr val="212121"/>
                </a:solidFill>
                <a:latin typeface="Consolas"/>
              </a:defRPr>
            </a:pPr>
            <a:r>
              <a:t>p4.run_filelog() - File history</a:t>
            </a:r>
          </a:p>
          <a:p>
            <a:pPr>
              <a:spcBef>
                <a:spcPts val="800"/>
              </a:spcBef>
              <a:defRPr sz="1100" i="1">
                <a:solidFill>
                  <a:srgbClr val="003366"/>
                </a:solidFill>
              </a:defRPr>
            </a:pPr>
            <a:r>
              <a:t>Auth: P4 tickets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Output Format - 5-Section Report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AFAFA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3366"/>
                </a:solidFill>
              </a:rPr>
              <a:t>Executive Summary: </a:t>
            </a:r>
            <a:r>
              <a:rPr sz="1100">
                <a:solidFill>
                  <a:srgbClr val="212121"/>
                </a:solidFill>
              </a:rPr>
              <a:t>High-level overview of findings, key insights, and immediate action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099FF"/>
                </a:solidFill>
              </a:defRPr>
            </a:pPr>
            <a:r>
              <a:t>Business-friendly language • Key metrics highlighted • Clear recommendations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926080"/>
            <a:ext cx="731520" cy="731520"/>
          </a:xfrm>
          <a:prstGeom prst="ellipse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AFAFA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260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3366"/>
                </a:solidFill>
              </a:rPr>
              <a:t>Detailed Findings: </a:t>
            </a:r>
            <a:r>
              <a:rPr sz="1100">
                <a:solidFill>
                  <a:srgbClr val="212121"/>
                </a:solidFill>
              </a:rPr>
              <a:t>Comprehensive analysis with evidence from all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9260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099FF"/>
                </a:solidFill>
              </a:defRPr>
            </a:pPr>
            <a:r>
              <a:t>Cross-referenced data • Timeline of events • Root cause analysis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023360"/>
            <a:ext cx="731520" cy="731520"/>
          </a:xfrm>
          <a:prstGeom prst="ellipse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AFAFA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0233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3366"/>
                </a:solidFill>
              </a:rPr>
              <a:t>Technical Implementation: </a:t>
            </a:r>
            <a:r>
              <a:rPr sz="1100">
                <a:solidFill>
                  <a:srgbClr val="212121"/>
                </a:solidFill>
              </a:rPr>
              <a:t>Code changes, configurations, and technical specifications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0233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099FF"/>
                </a:solidFill>
              </a:defRPr>
            </a:pPr>
            <a:r>
              <a:t>Syntax-highlighted code • API documentation • Architecture diagrams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120640"/>
            <a:ext cx="731520" cy="731520"/>
          </a:xfrm>
          <a:prstGeom prst="ellipse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21207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AFAFA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12064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3366"/>
                </a:solidFill>
              </a:rPr>
              <a:t>Timeline &amp; History: </a:t>
            </a:r>
            <a:r>
              <a:rPr sz="1100">
                <a:solidFill>
                  <a:srgbClr val="212121"/>
                </a:solidFill>
              </a:rPr>
              <a:t>Chronological view of development and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12064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099FF"/>
                </a:solidFill>
              </a:defRPr>
            </a:pPr>
            <a:r>
              <a:t>Visual timeline • Key milestones • Change correlation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6217920"/>
            <a:ext cx="731520" cy="731520"/>
          </a:xfrm>
          <a:prstGeom prst="ellipse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630935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AFAFA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62179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3366"/>
                </a:solidFill>
              </a:rPr>
              <a:t>Recommendations: </a:t>
            </a:r>
            <a:r>
              <a:rPr sz="1100">
                <a:solidFill>
                  <a:srgbClr val="212121"/>
                </a:solidFill>
              </a:rPr>
              <a:t>Actionable next steps and best practices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2179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099FF"/>
                </a:solidFill>
              </a:defRPr>
            </a:pPr>
            <a:r>
              <a:t>Prioritized actions • Risk assessment • Future considerations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Performance Metrics &amp; Benchmarks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2286000"/>
          </a:xfrm>
          <a:prstGeom prst="roundRect">
            <a:avLst/>
          </a:prstGeom>
          <a:solidFill>
            <a:srgbClr val="FAFFFA"/>
          </a:solidFill>
          <a:ln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C66"/>
                </a:solidFill>
              </a:defRPr>
            </a:pPr>
            <a:r>
              <a:t>Speed Metrics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Query to Report: 15-30 seconds average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Simple query: &lt; 10 seconds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Complex multi-source: &lt; 45 seconds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Parallel speedup: 5-10x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828800"/>
            <a:ext cx="3657600" cy="2286000"/>
          </a:xfrm>
          <a:prstGeom prst="roundRect">
            <a:avLst/>
          </a:prstGeom>
          <a:solidFill>
            <a:srgbClr val="FAFFFA"/>
          </a:solidFill>
          <a:ln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C66"/>
                </a:solidFill>
              </a:defRPr>
            </a:pPr>
            <a:r>
              <a:t>Scale Metrics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Perforce CLs: 100,000+ supported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Confluence pages: 10,000+ searchable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JIRA issues: Unlimited with pagination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Concurrent users: 100+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828800"/>
            <a:ext cx="3657600" cy="2286000"/>
          </a:xfrm>
          <a:prstGeom prst="roundRect">
            <a:avLst/>
          </a:prstGeom>
          <a:solidFill>
            <a:srgbClr val="FAFFFA"/>
          </a:solidFill>
          <a:ln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19202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C66"/>
                </a:solidFill>
              </a:defRPr>
            </a:pPr>
            <a:r>
              <a:t>Quality Metrics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Coverage: 100% of available data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Accuracy: 99.9% citation validity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Completeness: 95%+ information capture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Relevance: 90%+ result quality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3657600" cy="2286000"/>
          </a:xfrm>
          <a:prstGeom prst="roundRect">
            <a:avLst/>
          </a:prstGeom>
          <a:solidFill>
            <a:srgbClr val="FAFFFA"/>
          </a:solidFill>
          <a:ln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C66"/>
                </a:solidFill>
              </a:defRPr>
            </a:pPr>
            <a:r>
              <a:t>Resource Usage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Memory: 500MB-2GB typical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CPU: 2-4 cores recommended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Network: 10-50 MB/query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Storage: 100MB for cache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572000"/>
            <a:ext cx="3657600" cy="2286000"/>
          </a:xfrm>
          <a:prstGeom prst="roundRect">
            <a:avLst/>
          </a:prstGeom>
          <a:solidFill>
            <a:srgbClr val="FAFFFA"/>
          </a:solidFill>
          <a:ln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C66"/>
                </a:solidFill>
              </a:defRPr>
            </a:pPr>
            <a:r>
              <a:t>Reliability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Uptime: 99.95% availability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Error rate: &lt; 0.1%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Recovery time: &lt; 5 seconds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Data integrity: 100%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4572000"/>
            <a:ext cx="3657600" cy="2286000"/>
          </a:xfrm>
          <a:prstGeom prst="roundRect">
            <a:avLst/>
          </a:prstGeom>
          <a:solidFill>
            <a:srgbClr val="FAFFFA"/>
          </a:solidFill>
          <a:ln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46634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C66"/>
                </a:solidFill>
              </a:defRPr>
            </a:pPr>
            <a:r>
              <a:t>Cost Efficiency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API calls reduced by 70%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Token usage optimized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Cache hit rate: 70%+</a:t>
            </a:r>
          </a:p>
          <a:p>
            <a:pPr>
              <a:spcBef>
                <a:spcPts val="300"/>
              </a:spcBef>
              <a:defRPr sz="1100">
                <a:solidFill>
                  <a:srgbClr val="212121"/>
                </a:solidFill>
              </a:defRPr>
            </a:pPr>
            <a:r>
              <a:t>• ROI: 1200% year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AFAFA"/>
                </a:solidFill>
              </a:defRPr>
            </a:pPr>
            <a:r>
              <a:t>Technical Excellence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CC66"/>
                </a:solidFill>
              </a:defRPr>
            </a:pPr>
            <a:r>
              <a:t>✓ Complete multi-source integration with parallel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834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CC66"/>
                </a:solidFill>
              </a:defRPr>
            </a:pPr>
            <a:r>
              <a:t>✓ Advanced NLP with automatic entity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CC66"/>
                </a:solidFill>
              </a:defRPr>
            </a:pPr>
            <a:r>
              <a:t>✓ Intelligent secondary search with noise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CC66"/>
                </a:solidFill>
              </a:defRPr>
            </a:pPr>
            <a:r>
              <a:t>✓ Comprehensive attachment processing including 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480559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CC66"/>
                </a:solidFill>
              </a:defRPr>
            </a:pPr>
            <a:r>
              <a:rPr dirty="0"/>
              <a:t>✓ State-of-the-art RAG with iterative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199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CC66"/>
                </a:solidFill>
              </a:defRPr>
            </a:pPr>
            <a:r>
              <a:t>✓ Enterprise-grade security and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577839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CC66"/>
                </a:solidFill>
              </a:defRPr>
            </a:pPr>
            <a:r>
              <a:t>✓ 5-10x performance improvement over manual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126479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CC66"/>
                </a:solidFill>
              </a:defRPr>
            </a:pPr>
            <a:r>
              <a:t>✓ 100% data coverage with verified citations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2036" y="6400800"/>
            <a:ext cx="1004634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0099FF"/>
                </a:solidFill>
              </a:defRPr>
            </a:pPr>
            <a:r>
              <a:rPr lang="en-US" dirty="0" err="1"/>
              <a:t>Ollama</a:t>
            </a:r>
            <a:r>
              <a:rPr lang="en-US" dirty="0"/>
              <a:t> Enterprise deep research </a:t>
            </a:r>
            <a:r>
              <a:rPr dirty="0"/>
              <a:t>Where Enterprise Search Meets AI Intelligence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EC393EF-068A-033E-095C-E3145A17D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3" y="11084"/>
            <a:ext cx="8916987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557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B94648D-E552-7159-AAE0-D7C028503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0"/>
            <a:ext cx="9375775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4152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8eca3ca-1276-46d5-9d9d-a0f2a028920f}" enabled="0" method="" siteId="{c8eca3ca-1276-46d5-9d9d-a0f2a028920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2214</Words>
  <Application>Microsoft Macintosh PowerPoint</Application>
  <PresentationFormat>Custom</PresentationFormat>
  <Paragraphs>439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Aiman Younis (191686)</cp:lastModifiedBy>
  <cp:revision>19</cp:revision>
  <dcterms:created xsi:type="dcterms:W3CDTF">2013-01-27T09:14:16Z</dcterms:created>
  <dcterms:modified xsi:type="dcterms:W3CDTF">2025-10-29T12:31:11Z</dcterms:modified>
  <cp:category/>
</cp:coreProperties>
</file>